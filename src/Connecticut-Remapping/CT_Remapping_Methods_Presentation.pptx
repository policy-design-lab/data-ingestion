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Remapping Connecticut Crop Insurance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Comparing Two Weighting Approaches</a:t>
            </a:r>
          </a:p>
          <a:p>
            <a:r>
              <a:t>Acreage-Weighted vs. Cropland-Weighted Methods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Connecticut's Geographic Reorganization</a:t>
            </a:r>
          </a:p>
          <a:p>
            <a:pPr/>
            <a:r>
              <a:t>Before (2014-2023):</a:t>
            </a:r>
          </a:p>
          <a:p>
            <a:pPr lvl="1"/>
            <a:r>
              <a:t>8 Counties (Hartford, Fairfield, New Haven, etc.)</a:t>
            </a:r>
          </a:p>
          <a:p>
            <a:pPr/>
            <a:r>
              <a:t>After (2024):</a:t>
            </a:r>
          </a:p>
          <a:p>
            <a:pPr lvl="1"/>
            <a:r>
              <a:t>9 Planning Regions (Capitol, Northwest Hills, Western CT, etc.)</a:t>
            </a:r>
          </a:p>
          <a:p>
            <a:br/>
            <a:pPr>
              <a:defRPr b="1"/>
            </a:pPr>
            <a:r>
              <a:t>Challenge:</a:t>
            </a:r>
          </a:p>
          <a:p>
            <a:pPr lvl="1"/>
            <a:r>
              <a:t>How do we convert 10 years of historical county data to the new regional structure?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County-to-Region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(1:1 Mappings):</a:t>
            </a:r>
          </a:p>
          <a:p>
            <a:pPr lvl="1"/>
            <a:r>
              <a:t>Middlesex County → Lower CT River Valley (100%)</a:t>
            </a:r>
          </a:p>
          <a:p>
            <a:pPr lvl="1"/>
            <a:r>
              <a:t>Windham County → Northeastern CT (100%)</a:t>
            </a:r>
          </a:p>
          <a:p>
            <a:br/>
            <a:pPr>
              <a:defRPr b="1"/>
            </a:pPr>
            <a:r>
              <a:t>Complex (Splits):</a:t>
            </a:r>
          </a:p>
          <a:p>
            <a:pPr lvl="1"/>
            <a:r>
              <a:t>Hartford County → Capitol (??%) + Northwest Hills (??%)</a:t>
            </a:r>
          </a:p>
          <a:p>
            <a:pPr lvl="1"/>
            <a:r>
              <a:t>New Haven County → South Central + Naugatuck + Lower CT River</a:t>
            </a:r>
          </a:p>
          <a:p>
            <a:br/>
            <a:pPr>
              <a:defRPr b="1">
                <a:solidFill>
                  <a:srgbClr val="C00000"/>
                </a:solidFill>
              </a:defRPr>
            </a:pPr>
            <a:r>
              <a:t>The Question: What are these percentages?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 - Two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Method 1: Acreage-Weighted</a:t>
            </a:r>
          </a:p>
          <a:p>
            <a:pPr lvl="1"/>
            <a:r>
              <a:t>Data Source: 2024 actual crop insurance data</a:t>
            </a:r>
          </a:p>
          <a:p>
            <a:pPr lvl="1"/>
            <a:r>
              <a:t>Logic: Let the real outcomes tell us the split</a:t>
            </a:r>
          </a:p>
          <a:p>
            <a:br/>
            <a:pPr>
              <a:defRPr b="1" sz="2000"/>
            </a:pPr>
            <a:r>
              <a:t>Method 2: Cropland-Weighted</a:t>
            </a:r>
          </a:p>
          <a:p>
            <a:pPr lvl="1"/>
            <a:r>
              <a:t>Data Source: USDA Agricultural Census (2022)</a:t>
            </a:r>
          </a:p>
          <a:p>
            <a:pPr lvl="1"/>
            <a:r>
              <a:t>Logic: Use independent cropland area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1 - Acreage-Weighted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Concept:</a:t>
            </a:r>
          </a:p>
          <a:p>
            <a:pPr lvl="1"/>
            <a:r>
              <a:t>Use 2024's actual regional data to back-calculate historical splits</a:t>
            </a:r>
          </a:p>
          <a:p>
            <a:br/>
            <a:pPr>
              <a:defRPr b="1"/>
            </a:pPr>
            <a:r>
              <a:t>Example: Hartford County</a:t>
            </a:r>
          </a:p>
          <a:p>
            <a:pPr lvl="1"/>
            <a:r>
              <a:t>2023: 5,231 acres insured</a:t>
            </a:r>
          </a:p>
          <a:p>
            <a:br/>
            <a:pPr lvl="1"/>
            <a:r>
              <a:t>Look at 2024 Actuals:</a:t>
            </a:r>
          </a:p>
          <a:p>
            <a:pPr lvl="2"/>
            <a:r>
              <a:t>Capitol Region: 7,435 acres</a:t>
            </a:r>
          </a:p>
          <a:p>
            <a:pPr lvl="2"/>
            <a:r>
              <a:t>Northwest Hills: 1,797 acres</a:t>
            </a:r>
          </a:p>
          <a:p>
            <a:pPr lvl="2">
              <a:defRPr b="1"/>
            </a:pPr>
            <a:r>
              <a:t>Total: 9,232 acres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Proportion Calculation (Method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 Calculation</a:t>
            </a:r>
          </a:p>
          <a:p>
            <a:br/>
            <a:pPr/>
            <a:r>
              <a:t>1. Total destination acres:</a:t>
            </a:r>
          </a:p>
          <a:p>
            <a:pPr lvl="1">
              <a:defRPr>
                <a:latin typeface="Courier New"/>
              </a:defRPr>
            </a:pPr>
            <a:r>
              <a:t>7,435 + 1,797 = 9,232 acres</a:t>
            </a:r>
          </a:p>
          <a:p>
            <a:br/>
            <a:pPr/>
            <a:r>
              <a:t>2. Capitol weight:</a:t>
            </a:r>
          </a:p>
          <a:p>
            <a:pPr lvl="1">
              <a:defRPr>
                <a:latin typeface="Courier New"/>
              </a:defRPr>
            </a:pPr>
            <a:r>
              <a:t>7,435 ÷ 9,232 = 0.805 (80.5%)</a:t>
            </a:r>
          </a:p>
          <a:p>
            <a:br/>
            <a:pPr/>
            <a:r>
              <a:t>3. Northwest Hills weight:</a:t>
            </a:r>
          </a:p>
          <a:p>
            <a:pPr lvl="1">
              <a:defRPr>
                <a:latin typeface="Courier New"/>
              </a:defRPr>
            </a:pPr>
            <a:r>
              <a:t>1,797 ÷ 9,232 = 0.195 (19.5%)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Applying Weights (Method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Hartford County 2023 → 2024 Regions</a:t>
            </a:r>
          </a:p>
          <a:p>
            <a:br/>
            <a:pPr/>
            <a:r>
              <a:t>Hartford 2023: 5,231 acres</a:t>
            </a:r>
          </a:p>
          <a:p>
            <a:br/>
            <a:pPr lvl="1"/>
            <a:r>
              <a:t>→ Capitol (80.5%)</a:t>
            </a:r>
          </a:p>
          <a:p>
            <a:pPr lvl="2">
              <a:defRPr>
                <a:latin typeface="Courier New"/>
              </a:defRPr>
            </a:pPr>
            <a:r>
              <a:t>5,231 × 0.805 = 4,211 acres</a:t>
            </a:r>
          </a:p>
          <a:p>
            <a:br/>
            <a:pPr lvl="1"/>
            <a:r>
              <a:t>→ Northwest Hills (19.5%)</a:t>
            </a:r>
          </a:p>
          <a:p>
            <a:pPr lvl="2">
              <a:defRPr>
                <a:latin typeface="Courier New"/>
              </a:defRPr>
            </a:pPr>
            <a:r>
              <a:t>5,231 × 0.195 = 1,020 acres</a:t>
            </a:r>
          </a:p>
          <a:p>
            <a:br/>
            <a:pPr>
              <a:defRPr b="1">
                <a:solidFill>
                  <a:srgbClr val="008000"/>
                </a:solidFill>
              </a:defRPr>
            </a:pPr>
            <a:r>
              <a:t>Verification: 4,211 + 1,020 = 5,231 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2 - Cropland-Weighted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Concept:</a:t>
            </a:r>
          </a:p>
          <a:p>
            <a:pPr lvl="1"/>
            <a:r>
              <a:t>Use USDA cropland census data as allocation basis</a:t>
            </a:r>
          </a:p>
          <a:p>
            <a:br/>
            <a:pPr>
              <a:defRPr b="1"/>
            </a:pPr>
            <a:r>
              <a:t>Why Cropland?</a:t>
            </a:r>
          </a:p>
          <a:p>
            <a:pPr lvl="1"/>
            <a:r>
              <a:t>More cropland → More farming → More crop insurance</a:t>
            </a:r>
          </a:p>
          <a:p>
            <a:pPr lvl="1"/>
            <a:r>
              <a:t>Independent, objective data source</a:t>
            </a:r>
          </a:p>
          <a:p>
            <a:pPr lvl="1"/>
            <a:r>
              <a:t>Not influenced by single-year anomalies</a:t>
            </a:r>
          </a:p>
          <a:p>
            <a:br/>
            <a:pPr>
              <a:defRPr i="1"/>
            </a:pPr>
            <a:r>
              <a:t>Data Source: USDA NASS Agricultural Census 2022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Cropland Data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Hartford County Cropland (USDA 2022):</a:t>
            </a:r>
          </a:p>
          <a:p>
            <a:pPr lvl="1"/>
            <a:r>
              <a:t>Total: 12,000 acres of cropland</a:t>
            </a:r>
          </a:p>
          <a:p>
            <a:br/>
            <a:pPr>
              <a:defRPr b="1"/>
            </a:pPr>
            <a:r>
              <a:t>Regional Cropland Estimates:</a:t>
            </a:r>
          </a:p>
          <a:p>
            <a:pPr lvl="1"/>
            <a:r>
              <a:t>Capitol Region: ~14,500 acres</a:t>
            </a:r>
          </a:p>
          <a:p>
            <a:pPr lvl="2">
              <a:defRPr i="1"/>
            </a:pPr>
            <a:r>
              <a:t>(From Hartford + Tolland + Middlesex parts)</a:t>
            </a:r>
          </a:p>
          <a:p>
            <a:pPr lvl="1"/>
            <a:r>
              <a:t>Northwest Hills: ~10,000 acres</a:t>
            </a:r>
          </a:p>
          <a:p>
            <a:pPr lvl="2">
              <a:defRPr i="1"/>
            </a:pPr>
            <a:r>
              <a:t>(From Hartford + Litchfield parts)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Proportion Calculation (Method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Calculate Weights Based on Cropland</a:t>
            </a:r>
          </a:p>
          <a:p>
            <a:br/>
            <a:pPr/>
            <a:r>
              <a:t>1. Total relevant cropland:</a:t>
            </a:r>
          </a:p>
          <a:p>
            <a:pPr lvl="1">
              <a:defRPr>
                <a:latin typeface="Courier New"/>
              </a:defRPr>
            </a:pPr>
            <a:r>
              <a:t>14,500 + 10,000 = 24,500 acres</a:t>
            </a:r>
          </a:p>
          <a:p>
            <a:br/>
            <a:pPr/>
            <a:r>
              <a:t>2. Capitol weight:</a:t>
            </a:r>
          </a:p>
          <a:p>
            <a:pPr lvl="1">
              <a:defRPr>
                <a:latin typeface="Courier New"/>
              </a:defRPr>
            </a:pPr>
            <a:r>
              <a:t>14,500 ÷ 24,500 = 0.592 (59.2%)</a:t>
            </a:r>
          </a:p>
          <a:p>
            <a:br/>
            <a:pPr/>
            <a:r>
              <a:t>3. Northwest Hills weight:</a:t>
            </a:r>
          </a:p>
          <a:p>
            <a:pPr lvl="1">
              <a:defRPr>
                <a:latin typeface="Courier New"/>
              </a:defRPr>
            </a:pPr>
            <a:r>
              <a:t>10,000 ÷ 24,500 = 0.408 (40.8%)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Applying Weights (Method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Hartford County 2023 → 2024 Regions</a:t>
            </a:r>
          </a:p>
          <a:p>
            <a:br/>
            <a:pPr/>
            <a:r>
              <a:t>Hartford 2023: 5,231 acres insured</a:t>
            </a:r>
          </a:p>
          <a:p>
            <a:br/>
            <a:pPr lvl="1"/>
            <a:r>
              <a:t>→ Capitol (59.2%)</a:t>
            </a:r>
          </a:p>
          <a:p>
            <a:pPr lvl="2">
              <a:defRPr>
                <a:latin typeface="Courier New"/>
              </a:defRPr>
            </a:pPr>
            <a:r>
              <a:t>5,231 × 0.592 = 3,097 acres</a:t>
            </a:r>
          </a:p>
          <a:p>
            <a:br/>
            <a:pPr lvl="1"/>
            <a:r>
              <a:t>→ Northwest Hills (40.8%)</a:t>
            </a:r>
          </a:p>
          <a:p>
            <a:pPr lvl="2">
              <a:defRPr>
                <a:latin typeface="Courier New"/>
              </a:defRPr>
            </a:pPr>
            <a:r>
              <a:t>5,231 × 0.408 = 2,134 acres</a:t>
            </a:r>
          </a:p>
          <a:p>
            <a:br/>
            <a:pPr>
              <a:defRPr b="1">
                <a:solidFill>
                  <a:srgbClr val="008000"/>
                </a:solidFill>
              </a:defRPr>
            </a:pPr>
            <a:r>
              <a:t>Verification: 3,097 + 2,134 = 5,231 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Hartford County: Two Methods Compared</a:t>
            </a:r>
          </a:p>
          <a:p>
            <a:br/>
            <a:pPr/>
            <a:r>
              <a:t>Capitol Region:</a:t>
            </a:r>
          </a:p>
          <a:p>
            <a:pPr lvl="1"/>
            <a:r>
              <a:t>Method 1: 4,211 acres (80.5%)</a:t>
            </a:r>
          </a:p>
          <a:p>
            <a:pPr lvl="1"/>
            <a:r>
              <a:t>Method 2: 3,097 acres (59.2%)</a:t>
            </a:r>
          </a:p>
          <a:p>
            <a:pPr lvl="1">
              <a:defRPr>
                <a:solidFill>
                  <a:srgbClr val="C00000"/>
                </a:solidFill>
              </a:defRPr>
            </a:pPr>
            <a:r>
              <a:t>Difference: -1,114 acres</a:t>
            </a:r>
          </a:p>
          <a:p>
            <a:br/>
            <a:pPr/>
            <a:r>
              <a:t>Northwest Hills:</a:t>
            </a:r>
          </a:p>
          <a:p>
            <a:pPr lvl="1"/>
            <a:r>
              <a:t>Method 1: 1,020 acres (19.5%)</a:t>
            </a:r>
          </a:p>
          <a:p>
            <a:pPr lvl="1"/>
            <a:r>
              <a:t>Method 2: 2,134 acres (40.8%)</a:t>
            </a:r>
          </a:p>
          <a:p>
            <a:pPr lvl="1">
              <a:defRPr>
                <a:solidFill>
                  <a:srgbClr val="008000"/>
                </a:solidFill>
              </a:defRPr>
            </a:pPr>
            <a:r>
              <a:t>Difference: +1,114 acres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How We Measure Accuracy</a:t>
            </a:r>
          </a:p>
          <a:p>
            <a:br/>
            <a:pPr/>
            <a:r>
              <a:t>Process:</a:t>
            </a:r>
          </a:p>
          <a:p>
            <a:pPr lvl="1"/>
            <a:r>
              <a:t>1. Apply weights to 2023 county data</a:t>
            </a:r>
          </a:p>
          <a:p>
            <a:pPr lvl="1"/>
            <a:r>
              <a:t>2. Generate predicted 2024 regional values</a:t>
            </a:r>
          </a:p>
          <a:p>
            <a:pPr lvl="1"/>
            <a:r>
              <a:t>3. Compare with actual 2024 data</a:t>
            </a:r>
          </a:p>
          <a:p>
            <a:br/>
            <a:pPr/>
            <a:r>
              <a:t>Metrics:</a:t>
            </a:r>
          </a:p>
          <a:p>
            <a:pPr lvl="1">
              <a:defRPr>
                <a:latin typeface="Courier New"/>
              </a:defRPr>
            </a:pPr>
            <a:r>
              <a:t>% Error = |Predicted - Actual| / Actual × 100%</a:t>
            </a:r>
          </a:p>
          <a:p>
            <a:br/>
            <a:pPr>
              <a:defRPr b="1"/>
            </a:pPr>
            <a:r>
              <a:t>Goal: Error &lt; 10% = Good accuracy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Key Takeaways</a:t>
            </a:r>
          </a:p>
          <a:p>
            <a:br/>
            <a:pPr/>
            <a:r>
              <a:t>✓ Two valid approaches to remap geographic data</a:t>
            </a:r>
          </a:p>
          <a:p>
            <a:br/>
            <a:pPr/>
            <a:r>
              <a:t>✓ Each has strengths depending on context</a:t>
            </a:r>
          </a:p>
          <a:p>
            <a:br/>
            <a:pPr/>
            <a:r>
              <a:t>✓ Validation is critical to choose the best method</a:t>
            </a:r>
          </a:p>
          <a:p>
            <a:br/>
            <a:pPr/>
            <a:r>
              <a:t>✓ Enables consistent analysis across time periods</a:t>
            </a:r>
          </a:p>
          <a:p>
            <a:br/>
            <a:br/>
            <a:pPr>
              <a:defRPr i="1"/>
            </a:pPr>
            <a:r>
              <a:t>The best method is the one that most accurately predicts</a:t>
            </a:r>
          </a:p>
          <a:p>
            <a:pPr>
              <a:defRPr i="1"/>
            </a:pPr>
            <a:r>
              <a:t>known outcomes while being defensible and transparent.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